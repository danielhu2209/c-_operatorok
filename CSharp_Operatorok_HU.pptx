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177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5879" y="137160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6C3FD6"/>
          </a:solidFill>
          <a:ln w="12700">
            <a:solidFill>
              <a:srgbClr val="6C3F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75879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35999" y="137160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2A1B55"/>
          </a:solidFill>
          <a:ln w="12700">
            <a:solidFill>
              <a:srgbClr val="2A1B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999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996119" y="137160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2A1B55"/>
          </a:solidFill>
          <a:ln w="12700">
            <a:solidFill>
              <a:srgbClr val="2A1B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96119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956239" y="137160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6C3FD6"/>
          </a:solidFill>
          <a:ln w="12700">
            <a:solidFill>
              <a:srgbClr val="6C3F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6239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075879" y="256032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2A1B55"/>
          </a:solidFill>
          <a:ln w="12700">
            <a:solidFill>
              <a:srgbClr val="2A1B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75879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035999" y="256032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2A1B55"/>
          </a:solidFill>
          <a:ln w="12700">
            <a:solidFill>
              <a:srgbClr val="2A1B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999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996119" y="256032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6C3FD6"/>
          </a:solidFill>
          <a:ln w="12700">
            <a:solidFill>
              <a:srgbClr val="6C3F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96119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7956239" y="256032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2A1B55"/>
          </a:solidFill>
          <a:ln w="12700">
            <a:solidFill>
              <a:srgbClr val="2A1B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6239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?: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13716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C# operátorok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5603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800" dirty="0">
                <a:solidFill>
                  <a:srgbClr val="CF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Készítette: Németh János, Erdős Dániel, Komor Szabolcs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 az az operátor?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jel, ami megmondja a C#-nak, mit csináljon az értékekkel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operandus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77440" y="146304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6C3FD6"/>
          </a:solidFill>
          <a:ln w="12700">
            <a:solidFill>
              <a:srgbClr val="6C3F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77440" y="14630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operátor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31920" y="146304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31920" y="14630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operandus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14630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7040880" y="146304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D9F5E8"/>
          </a:solidFill>
          <a:ln w="12700">
            <a:solidFill>
              <a:srgbClr val="D9F5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40880" y="14630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FBF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eredmény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DF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008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Egyoperandusú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operandus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31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!kesz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91840" y="30632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DF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47472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Kétoperandusú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3474720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operandus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474720" y="393192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74720" y="3931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26480" y="30632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DF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30936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Háromoperandusú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operandus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309360" y="393192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09360" y="3931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? b : c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Aritmetikai operátorok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matematikai műveletek, mint egy számológépen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4DDF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63040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630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37160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Összeadás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+ 2</a:t>
            </a:r>
            <a:r>
              <a:rPr lang="en-US" sz="1300" dirty="0">
                <a:solidFill>
                  <a:srgbClr val="5B5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3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4DDF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084832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08483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1993392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Kivonás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7 - 2</a:t>
            </a:r>
            <a:r>
              <a:rPr lang="en-US" sz="1300" dirty="0">
                <a:solidFill>
                  <a:srgbClr val="5B5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3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4DDF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706624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70662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615184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Szorzás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* 2</a:t>
            </a:r>
            <a:r>
              <a:rPr lang="en-US" sz="1300" dirty="0">
                <a:solidFill>
                  <a:srgbClr val="5B5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3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36976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4DDF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3328416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32841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323697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Osztás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2</a:t>
            </a:r>
            <a:r>
              <a:rPr lang="en-US" sz="1300" dirty="0">
                <a:solidFill>
                  <a:srgbClr val="5B5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3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858768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4DDF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950208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95020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385876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Maradék (modulo)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7 % 2</a:t>
            </a:r>
            <a:r>
              <a:rPr lang="en-US" sz="1300" dirty="0">
                <a:solidFill>
                  <a:srgbClr val="5B5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3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0" y="137160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6C3FD6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040880" y="1828800"/>
            <a:ext cx="548640" cy="548640"/>
          </a:xfrm>
          <a:prstGeom prst="ellipse">
            <a:avLst/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408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612648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képernyőkép helye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17220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Ötlet: a kód és az eredmény a konzolablakban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Kattints a keretre, majd Alakzat kitöltése → Kép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Tipp: </a:t>
            </a:r>
            <a:r>
              <a:rPr lang="en-US" sz="1400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 / 2 értéke 3, mert mindkettő egész (int). Írj 7.0 / 2-t, ha 3,5-öt szeretnél.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Növelés és csökkentés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++ eggyel növel, a -- eggyel csökkent. A sorrend számít!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4DDF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2148840" cy="411480"/>
          </a:xfrm>
          <a:prstGeom prst="roundRect">
            <a:avLst>
              <a:gd name="adj" fmla="val 17778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Előtag: ++x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Először növel, aztán használja az értéket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880360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5;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y = ++x;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x=6, y=6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54680" y="137160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4DDF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554480"/>
            <a:ext cx="2148840" cy="411480"/>
          </a:xfrm>
          <a:prstGeom prst="roundRect">
            <a:avLst>
              <a:gd name="adj" fmla="val 17778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37560" y="1554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BF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Utótag: x++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337560" y="21031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Először használja az értéket, aztán növel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37560" y="288036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20440" y="2880360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5;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y = x++;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x=6, y=5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0" y="137160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6C3FD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040880" y="1828800"/>
            <a:ext cx="548640" cy="548640"/>
          </a:xfrm>
          <a:prstGeom prst="ellipse">
            <a:avLst/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képernyőkép helye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Ötlet: a két változat eredménye egymás mellett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Kattints a keretre, majd Alakzat kitöltése → Kép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Értékadás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Rövidítések változók módosításához. Kezdet: int x = 10;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DDF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26464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2646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371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Értékadás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</a:t>
            </a:r>
            <a:r>
              <a:rPr lang="en-US" sz="1300" dirty="0">
                <a:solidFill>
                  <a:srgbClr val="5B5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3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83664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DDF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938528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93852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+=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18836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Összeadás és értékadás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+= 5</a:t>
            </a:r>
            <a:r>
              <a:rPr lang="en-US" sz="1300" dirty="0">
                <a:solidFill>
                  <a:srgbClr val="5B5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3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395728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DDF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450592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45059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-=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3957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Kivonás és értékadás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-= 3</a:t>
            </a:r>
            <a:r>
              <a:rPr lang="en-US" sz="1300" dirty="0">
                <a:solidFill>
                  <a:srgbClr val="5B5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3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07792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DDF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962656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296265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*=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29077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Szorzás és értékadás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*= 2</a:t>
            </a:r>
            <a:r>
              <a:rPr lang="en-US" sz="1300" dirty="0">
                <a:solidFill>
                  <a:srgbClr val="5B5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3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19856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DDF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474720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4747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/=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34198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Osztás és értékadás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/= 4</a:t>
            </a:r>
            <a:r>
              <a:rPr lang="en-US" sz="1300" dirty="0">
                <a:solidFill>
                  <a:srgbClr val="5B5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3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DDF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3986784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398678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%=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3931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Maradék és értékadás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%= 4</a:t>
            </a:r>
            <a:r>
              <a:rPr lang="en-US" sz="1300" dirty="0">
                <a:solidFill>
                  <a:srgbClr val="5B5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3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0" y="137160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6C3FD6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7040880" y="1828800"/>
            <a:ext cx="548640" cy="548640"/>
          </a:xfrm>
          <a:prstGeom prst="ellipse">
            <a:avLst/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408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31" name="Text 29"/>
          <p:cNvSpPr txBox="1"/>
          <p:nvPr/>
        </p:nvSpPr>
        <p:spPr>
          <a:xfrm>
            <a:off x="612648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képernyőkép helye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Ötlet: a változó értéke a debuggerben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17220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Kattints a keretre, majd Alakzat kitöltése → Kép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Tipp: </a:t>
            </a:r>
            <a:r>
              <a:rPr lang="en-US" sz="1400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sor az előző sor x értékét használja. Az x += 5 jelentése: x = x + 5.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Összehasonlítás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Két érték összevetése. Az eredmény mindig igaz vagy hamis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DDF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26464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2646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371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Egyenlő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== 5</a:t>
            </a:r>
            <a:r>
              <a:rPr lang="en-US" sz="1300" dirty="0">
                <a:solidFill>
                  <a:srgbClr val="5B5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300" b="1" dirty="0">
                <a:solidFill>
                  <a:srgbClr val="2FBF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83664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DDF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938528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93852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18836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egyenlő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!= 3</a:t>
            </a:r>
            <a:r>
              <a:rPr lang="en-US" sz="1300" dirty="0">
                <a:solidFill>
                  <a:srgbClr val="5B5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300" b="1" dirty="0">
                <a:solidFill>
                  <a:srgbClr val="2FBF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395728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DDF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450592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45059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3957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Nagyobb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&gt; 8</a:t>
            </a:r>
            <a:r>
              <a:rPr lang="en-US" sz="1300" dirty="0">
                <a:solidFill>
                  <a:srgbClr val="5B5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300" b="1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07792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DDF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962656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296265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29077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Kisebb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&lt; 8</a:t>
            </a:r>
            <a:r>
              <a:rPr lang="en-US" sz="1300" dirty="0">
                <a:solidFill>
                  <a:srgbClr val="5B5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300" b="1" dirty="0">
                <a:solidFill>
                  <a:srgbClr val="2FBF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19856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DDF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474720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4747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34198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Nagyobb vagy egyenlő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&gt;= 5</a:t>
            </a:r>
            <a:r>
              <a:rPr lang="en-US" sz="1300" dirty="0">
                <a:solidFill>
                  <a:srgbClr val="5B5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300" b="1" dirty="0">
                <a:solidFill>
                  <a:srgbClr val="2FBF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DDF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3986784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398678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3931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Kisebb vagy egyenlő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&lt;= 3</a:t>
            </a:r>
            <a:r>
              <a:rPr lang="en-US" sz="1300" dirty="0">
                <a:solidFill>
                  <a:srgbClr val="5B5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300" b="1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0" y="137160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6C3FD6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7040880" y="1828800"/>
            <a:ext cx="548640" cy="548640"/>
          </a:xfrm>
          <a:prstGeom prst="ellipse">
            <a:avLst/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408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31" name="Text 29"/>
          <p:cNvSpPr txBox="1"/>
          <p:nvPr/>
        </p:nvSpPr>
        <p:spPr>
          <a:xfrm>
            <a:off x="612648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képernyőkép helye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Ötlet: egy if feltétel és a kimenete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17220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Kattints a keretre, majd Alakzat kitöltése → Kép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Vigyázat: </a:t>
            </a:r>
            <a:r>
              <a:rPr lang="en-US" sz="1400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értéket ad, a == összehasonlít. Gyakori hiba összekeverni őket.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Logikai operátorok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Igaz/hamis feltételek összekapcsolása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4DDF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32204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3220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3716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 (AND): mindkettő igaz kell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kor &gt; 18 &amp;&amp; vanIgazolvany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4DDF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683764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68376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4231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VAGY (OR): legalább az egyik igaz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vip || vanJegye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4DDF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3735324"/>
            <a:ext cx="731520" cy="347472"/>
          </a:xfrm>
          <a:prstGeom prst="roundRect">
            <a:avLst>
              <a:gd name="adj" fmla="val 21053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73532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47472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(NOT): megfordítja az értéket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!tiltott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0" y="137160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6C3FD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040880" y="1828800"/>
            <a:ext cx="548640" cy="548640"/>
          </a:xfrm>
          <a:prstGeom prst="ellipse">
            <a:avLst/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képernyőkép helye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Ötlet: egy belépés-ellenőrző program futás közben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Kattints a keretre, majd Alakzat kitöltése → Kép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Tipp: </a:t>
            </a:r>
            <a:r>
              <a:rPr lang="en-US" sz="1400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feltételeket zárójelekkel tedd olvashatóvá: (a &amp;&amp; b) || c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Igazságtábla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összes lehetséges kombináció egy pillantásra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212080" cy="21945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3F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3F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&amp;&amp; B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3F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|| B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3F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BF8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BF8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BF8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BF8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BF8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548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548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BF8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548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BF8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548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BF8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548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548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548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548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0332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37033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Rövidzár: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A hamis, az A &amp;&amp; B-nél a B ki sem értékelődik. Az A || B-nél, ha A igaz, a B kimarad.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43600" y="137160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6C3FD6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7040880" y="1828800"/>
            <a:ext cx="548640" cy="548640"/>
          </a:xfrm>
          <a:prstGeom prst="ellipse">
            <a:avLst/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4" name="Text 6"/>
          <p:cNvSpPr txBox="1"/>
          <p:nvPr/>
        </p:nvSpPr>
        <p:spPr>
          <a:xfrm>
            <a:off x="70408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képernyőkép helye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17220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Ötlet: a táblázat kipróbálva kódban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Kattints a keretre, majd Alakzat kitöltése → Kép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Feltételes operátor ?: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Egysoros if / else, ami értéket ad vissza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6C3F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02920" y="1463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feltétel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8288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kor &gt;= 18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86000" y="137160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2FBF8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331720" y="1463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B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igaz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18288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"Felnőtt"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0" y="137160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E5484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160520" y="1463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hamis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160520" y="18288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"Kiskorú"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137160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B5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137160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B56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0175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cimke =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9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kor &gt;= 18 ? "Felnőtt" : "Kiskorú";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0" y="137160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6C3FD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040880" y="1828800"/>
            <a:ext cx="548640" cy="548640"/>
          </a:xfrm>
          <a:prstGeom prst="ellipse">
            <a:avLst/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képernyőkép helye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Ötlet: a kód és a kiírt szöveg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Kattints a keretre, majd Alakzat kitöltése → Kép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Tipp: </a:t>
            </a:r>
            <a:r>
              <a:rPr lang="en-US" sz="1400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Rövid döntésekhez kiváló. Hosszú logikához használj sima if / else-t.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Műveleti sorrend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5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Melyik operátor fut le először? A legfelső nyer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99032"/>
            <a:ext cx="329184" cy="329184"/>
          </a:xfrm>
          <a:prstGeom prst="ellipse">
            <a:avLst/>
          </a:prstGeom>
          <a:solidFill>
            <a:srgbClr val="6C3FD6"/>
          </a:solidFill>
          <a:ln w="12700">
            <a:solidFill>
              <a:srgbClr val="6C3F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60120" y="1389888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3898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3716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Zárójelek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37944"/>
            <a:ext cx="329184" cy="329184"/>
          </a:xfrm>
          <a:prstGeom prst="ellipse">
            <a:avLst/>
          </a:prstGeom>
          <a:solidFill>
            <a:srgbClr val="6C3FD6"/>
          </a:solidFill>
          <a:ln w="12700">
            <a:solidFill>
              <a:srgbClr val="6C3F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837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0120" y="1828800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18288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++ --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8105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Egyoperandusú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276856"/>
            <a:ext cx="329184" cy="329184"/>
          </a:xfrm>
          <a:prstGeom prst="ellipse">
            <a:avLst/>
          </a:prstGeom>
          <a:solidFill>
            <a:srgbClr val="6C3FD6"/>
          </a:solidFill>
          <a:ln w="12700">
            <a:solidFill>
              <a:srgbClr val="6C3F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276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0120" y="2267712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22677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/ %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2494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Szorzás, osztás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715768"/>
            <a:ext cx="329184" cy="329184"/>
          </a:xfrm>
          <a:prstGeom prst="ellipse">
            <a:avLst/>
          </a:prstGeom>
          <a:solidFill>
            <a:srgbClr val="6C3FD6"/>
          </a:solidFill>
          <a:ln w="12700">
            <a:solidFill>
              <a:srgbClr val="6C3F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60120" y="2706624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0120" y="2706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-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268833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Összeadás, kivonás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154680"/>
            <a:ext cx="329184" cy="329184"/>
          </a:xfrm>
          <a:prstGeom prst="ellipse">
            <a:avLst/>
          </a:prstGeom>
          <a:solidFill>
            <a:srgbClr val="6C3FD6"/>
          </a:solidFill>
          <a:ln w="12700">
            <a:solidFill>
              <a:srgbClr val="6C3F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60120" y="3145536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0120" y="31455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&gt; &lt;= &gt;= == !=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31272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Összehasonlítások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3593592"/>
            <a:ext cx="329184" cy="329184"/>
          </a:xfrm>
          <a:prstGeom prst="ellipse">
            <a:avLst/>
          </a:prstGeom>
          <a:solidFill>
            <a:srgbClr val="6C3FD6"/>
          </a:solidFill>
          <a:ln w="12700">
            <a:solidFill>
              <a:srgbClr val="6C3F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60120" y="3584448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60120" y="35844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  majd  ||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291840" y="35661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Logikai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4032504"/>
            <a:ext cx="329184" cy="329184"/>
          </a:xfrm>
          <a:prstGeom prst="ellipse">
            <a:avLst/>
          </a:prstGeom>
          <a:solidFill>
            <a:srgbClr val="6C3FD6"/>
          </a:solidFill>
          <a:ln w="12700">
            <a:solidFill>
              <a:srgbClr val="6C3FD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4032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60120" y="4023360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EDE7FF"/>
          </a:solidFill>
          <a:ln w="12700">
            <a:solidFill>
              <a:srgbClr val="EDE7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60120" y="40233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3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?:  =  +=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3291840" y="40050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Feltételes, értékadás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486400" y="1371600"/>
            <a:ext cx="3200400" cy="3017520"/>
          </a:xfrm>
          <a:prstGeom prst="roundRect">
            <a:avLst>
              <a:gd name="adj" fmla="val 2424"/>
            </a:avLst>
          </a:prstGeom>
          <a:solidFill>
            <a:srgbClr val="1B1035"/>
          </a:solidFill>
          <a:ln w="12700">
            <a:solidFill>
              <a:srgbClr val="1B103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71500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Próbáld ki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571500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+ 3 * 4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571500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14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571500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 + 3) * 4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571500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20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5715000" y="3794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bizonytalan vagy, használj zárójelet.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Összefoglaló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Tartsd kéznél ezt a diát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A1B55"/>
          </a:solidFill>
          <a:ln w="12700">
            <a:solidFill>
              <a:srgbClr val="4A35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Aritmetikai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-  *  /  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A1B55"/>
          </a:solidFill>
          <a:ln w="12700">
            <a:solidFill>
              <a:srgbClr val="4A35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Léptetés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  --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A1B55"/>
          </a:solidFill>
          <a:ln w="12700">
            <a:solidFill>
              <a:srgbClr val="4A35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Értékadás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+= -= *= /= %=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A1B55"/>
          </a:solidFill>
          <a:ln w="12700">
            <a:solidFill>
              <a:srgbClr val="4A35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Összehasonlítás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611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 !=  &gt;  &lt;  &gt;=  &lt;=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91840" y="30175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A1B55"/>
          </a:solidFill>
          <a:ln w="12700">
            <a:solidFill>
              <a:srgbClr val="4A35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Logikai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3611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  ||  !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30175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A1B55"/>
          </a:solidFill>
          <a:ln w="12700">
            <a:solidFill>
              <a:srgbClr val="4A35A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Speciális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3611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?:  ??  ?.  ??=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821</Words>
  <Application>Microsoft Office PowerPoint</Application>
  <PresentationFormat>Diavetítés a képernyőre (16:9 oldalarány)</PresentationFormat>
  <Paragraphs>232</Paragraphs>
  <Slides>11</Slides>
  <Notes>11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Németh János</cp:lastModifiedBy>
  <cp:revision>2</cp:revision>
  <dcterms:created xsi:type="dcterms:W3CDTF">2026-09-30T12:03:31Z</dcterms:created>
  <dcterms:modified xsi:type="dcterms:W3CDTF">2026-09-30T12:06:54Z</dcterms:modified>
</cp:coreProperties>
</file>